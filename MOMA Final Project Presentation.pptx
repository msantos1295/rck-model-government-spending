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  <p:sldMasterId id="2147483662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6858000" cx="12192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zKbUEq55x+Ajt3NGvVmkRATNq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3.xml"/><Relationship Id="rId19" Type="http://schemas.openxmlformats.org/officeDocument/2006/relationships/font" Target="fonts/Play-bold.fntdata"/><Relationship Id="rId6" Type="http://schemas.openxmlformats.org/officeDocument/2006/relationships/slideMaster" Target="slideMasters/slideMaster4.xml"/><Relationship Id="rId18" Type="http://schemas.openxmlformats.org/officeDocument/2006/relationships/font" Target="fonts/Play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c363f3242_4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c363f3242_4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Open with a one-sentence hook: the RCK model is the workhorse for analyzing fiscal policy when households save optimally. The key result we'll establish is that utility-yielding government spending in this canonical setup affects only the within-period split between c and G, not the intertemporal margin — an intertemporal neutrality result. Hand off: 'In the next slide I'll set up the analytical framework. Then Mike will walk through how we model government spending and what we find.'</a:t>
            </a:r>
            <a:endParaRPr/>
          </a:p>
        </p:txBody>
      </p:sp>
      <p:sp>
        <p:nvSpPr>
          <p:cNvPr id="235" name="Google Shape;235;g3dc363f3242_4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c363f3242_4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dc363f3242_4_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Talking points (~60–75 seconds):</a:t>
            </a:r>
            <a:br>
              <a:rPr lang="en-US"/>
            </a:br>
            <a:r>
              <a:rPr lang="en-US"/>
              <a:t>1. The phase diagram on the left is the canonical RCK setup. Two dynamic variables, k and c, but only k is predetermined; c jumps to land on the saddle path. This single one-dimensional manifold connects every initial k_0 to the steady state.</a:t>
            </a:r>
            <a:br>
              <a:rPr lang="en-US"/>
            </a:br>
            <a:r>
              <a:rPr lang="en-US"/>
              <a:t>2. This gives us three analytical features that form a toolkit. (point to 1) The saddle-path property gives equilibrium determinacy. (point to 2) Off the steady state, transition dynamics are the natural object for short- and medium-run policy effects. (point to 3) Steady-state shifts give long-run comparative statics.</a:t>
            </a:r>
            <a:br>
              <a:rPr lang="en-US"/>
            </a:br>
            <a:r>
              <a:rPr lang="en-US"/>
              <a:t>3. The baseline abstracts from government. The literature has extended RCK with fiscal instruments, but most work treats G as exogenous and focuses on steady-state implications.</a:t>
            </a:r>
            <a:br>
              <a:rPr lang="en-US"/>
            </a:br>
            <a:r>
              <a:rPr lang="en-US"/>
              <a:t>4. Our question (read the question slowly): how does endogenously chosen, utility-yielding G interact with the intertemporal margin?</a:t>
            </a:r>
            <a:br>
              <a:rPr lang="en-US"/>
            </a:br>
            <a:r>
              <a:rPr lang="en-US"/>
              <a:t>5. Punchline (read the gold card): we establish an intertemporal neutrality result. Malone will set up the model and walk through the proof.</a:t>
            </a:r>
            <a:br>
              <a:rPr lang="en-US"/>
            </a:br>
            <a:r>
              <a:rPr lang="en-US"/>
              <a:t>Hand off: 'For the literature setup, I'll pass it over to [Malone or J.].'</a:t>
            </a:r>
            <a:endParaRPr/>
          </a:p>
        </p:txBody>
      </p:sp>
      <p:sp>
        <p:nvSpPr>
          <p:cNvPr id="249" name="Google Shape;249;g3dc363f3242_4_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c363f3242_4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dc363f3242_4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c363f3242_4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dc363f3242_4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c363f3242_4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dc363f3242_4_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c363f3242_4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dc363f3242_4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c363f3242_4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dc363f3242_4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c363f3242_4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dc363f3242_4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c363f3242_4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g3dc363f3242_4_2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c363f3242_4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dc363f3242_4_2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c363f3242_4_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dc363f3242_4_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g3dc363f3242_4_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dc363f3242_4_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dc363f3242_4_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c363f3242_4_4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dc363f3242_4_4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g3dc363f3242_4_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dc363f3242_4_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dc363f3242_4_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c363f3242_4_5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dc363f3242_4_5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3" name="Google Shape;103;g3dc363f3242_4_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dc363f3242_4_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dc363f3242_4_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c363f3242_4_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dc363f3242_4_6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g3dc363f3242_4_6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g3dc363f3242_4_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dc363f3242_4_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dc363f3242_4_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c363f3242_4_6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dc363f3242_4_6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g3dc363f3242_4_6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3dc363f3242_4_6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dc363f3242_4_6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dc363f3242_4_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dc363f3242_4_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dc363f3242_4_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c363f3242_4_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dc363f3242_4_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dc363f3242_4_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dc363f3242_4_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c363f3242_4_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dc363f3242_4_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dc363f3242_4_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c363f3242_4_8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dc363f3242_4_8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4" name="Google Shape;134;g3dc363f3242_4_8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g3dc363f3242_4_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dc363f3242_4_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dc363f3242_4_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c363f3242_4_9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dc363f3242_4_9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g3dc363f3242_4_9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g3dc363f3242_4_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dc363f3242_4_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dc363f3242_4_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c363f3242_4_10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dc363f3242_4_10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g3dc363f3242_4_1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dc363f3242_4_1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dc363f3242_4_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c363f3242_4_10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dc363f3242_4_10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g3dc363f3242_4_1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dc363f3242_4_1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dc363f3242_4_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c363f3242_4_1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dc363f3242_4_1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g3dc363f3242_4_1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3dc363f3242_4_1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dc363f3242_4_1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c363f3242_4_17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dc363f3242_4_17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2" name="Google Shape;172;g3dc363f3242_4_1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dc363f3242_4_1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dc363f3242_4_1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c363f3242_4_18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dc363f3242_4_18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78" name="Google Shape;178;g3dc363f3242_4_1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g3dc363f3242_4_1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dc363f3242_4_1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c363f3242_4_1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dc363f3242_4_19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g3dc363f3242_4_19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g3dc363f3242_4_1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dc363f3242_4_1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dc363f3242_4_1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c363f3242_4_19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dc363f3242_4_19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1" name="Google Shape;191;g3dc363f3242_4_19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g3dc363f3242_4_19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g3dc363f3242_4_19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g3dc363f3242_4_1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3dc363f3242_4_1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dc363f3242_4_1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c363f3242_4_20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3dc363f3242_4_2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g3dc363f3242_4_2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3dc363f3242_4_2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c363f3242_4_2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g3dc363f3242_4_2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g3dc363f3242_4_2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c363f3242_4_2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dc363f3242_4_2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9" name="Google Shape;209;g3dc363f3242_4_2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0" name="Google Shape;210;g3dc363f3242_4_2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dc363f3242_4_2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dc363f3242_4_2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c363f3242_4_2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g3dc363f3242_4_2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g3dc363f3242_4_2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g3dc363f3242_4_2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dc363f3242_4_2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dc363f3242_4_2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c363f3242_4_2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3dc363f3242_4_2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g3dc363f3242_4_2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g3dc363f3242_4_2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g3dc363f3242_4_2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c363f3242_4_2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3dc363f3242_4_2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g3dc363f3242_4_2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dc363f3242_4_2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g3dc363f3242_4_2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c363f3242_4_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g3dc363f3242_4_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dc363f3242_4_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dc363f3242_4_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3dc363f3242_4_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c363f3242_4_1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g3dc363f3242_4_16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g3dc363f3242_4_1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g3dc363f3242_4_1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g3dc363f3242_4_1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c363f3242_4_0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dc363f3242_4_0"/>
          <p:cNvSpPr/>
          <p:nvPr/>
        </p:nvSpPr>
        <p:spPr>
          <a:xfrm>
            <a:off x="853440" y="731520"/>
            <a:ext cx="219456" cy="219456"/>
          </a:xfrm>
          <a:prstGeom prst="rect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dc363f3242_4_0"/>
          <p:cNvSpPr/>
          <p:nvPr/>
        </p:nvSpPr>
        <p:spPr>
          <a:xfrm>
            <a:off x="853440" y="2121375"/>
            <a:ext cx="10485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with Government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dc363f3242_4_0"/>
          <p:cNvSpPr/>
          <p:nvPr/>
        </p:nvSpPr>
        <p:spPr>
          <a:xfrm>
            <a:off x="853440" y="1202093"/>
            <a:ext cx="10485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5300"/>
              <a:buFont typeface="Cambria"/>
              <a:buNone/>
            </a:pPr>
            <a:r>
              <a:rPr b="1" i="0" lang="en-US" sz="5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Ramsey–Cass–Koopmans Model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dc363f3242_4_0"/>
          <p:cNvSpPr/>
          <p:nvPr/>
        </p:nvSpPr>
        <p:spPr>
          <a:xfrm>
            <a:off x="853440" y="3230880"/>
            <a:ext cx="1048512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Steady State and Transition Dynamics with Utility-Yielding Government Spending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dc363f3242_4_0"/>
          <p:cNvSpPr/>
          <p:nvPr/>
        </p:nvSpPr>
        <p:spPr>
          <a:xfrm>
            <a:off x="853440" y="3956318"/>
            <a:ext cx="1048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Cambria"/>
              <a:buNone/>
            </a:pPr>
            <a:r>
              <a:rPr b="0" i="1" lang="en-US" sz="2100" u="none" cap="none" strike="noStrike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An </a:t>
            </a:r>
            <a:r>
              <a:rPr b="1" i="1" lang="en-US" sz="2100" u="none" cap="none" strike="noStrike">
                <a:solidFill>
                  <a:srgbClr val="B8860B"/>
                </a:solidFill>
                <a:latin typeface="Cambria"/>
                <a:ea typeface="Cambria"/>
                <a:cs typeface="Cambria"/>
                <a:sym typeface="Cambria"/>
              </a:rPr>
              <a:t>intertemporal neutrality result</a:t>
            </a:r>
            <a:r>
              <a:rPr b="0" i="1" lang="en-US" sz="2100" u="none" cap="none" strike="noStrike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 for utility-yielding government spending.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dc363f3242_4_0"/>
          <p:cNvSpPr/>
          <p:nvPr/>
        </p:nvSpPr>
        <p:spPr>
          <a:xfrm>
            <a:off x="853440" y="5120640"/>
            <a:ext cx="1048512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Mike Santos, Muhong Zhang, Yan He, Jude Ikemefuna Iziga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dc363f3242_4_0"/>
          <p:cNvSpPr/>
          <p:nvPr/>
        </p:nvSpPr>
        <p:spPr>
          <a:xfrm>
            <a:off x="853440" y="5547360"/>
            <a:ext cx="1048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MOMA 624  ·  Final Project  ·  May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c363f3242_4_0"/>
          <p:cNvSpPr/>
          <p:nvPr/>
        </p:nvSpPr>
        <p:spPr>
          <a:xfrm>
            <a:off x="853440" y="6156960"/>
            <a:ext cx="1048512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1: Introduction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c363f3242_4_14"/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500"/>
              <a:buFont typeface="Cambria"/>
              <a:buNone/>
            </a:pPr>
            <a:r>
              <a:rPr b="1" i="0" lang="en-US" sz="3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Intro：From the RCK Baseline to Our Question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optimistic-funny-mendel/mnt/outputs/phase_diagram.png" id="252" name="Google Shape;252;g3dc363f3242_4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219200"/>
            <a:ext cx="6096000" cy="4511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dc363f3242_4_14"/>
          <p:cNvSpPr/>
          <p:nvPr/>
        </p:nvSpPr>
        <p:spPr>
          <a:xfrm>
            <a:off x="365760" y="5730240"/>
            <a:ext cx="60960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Baseline RCK phase diagram: the saddle path is the unique stable manifold to (k*, c*).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dc363f3242_4_14"/>
          <p:cNvSpPr/>
          <p:nvPr/>
        </p:nvSpPr>
        <p:spPr>
          <a:xfrm>
            <a:off x="6705600" y="1219200"/>
            <a:ext cx="512064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Three analytical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c363f3242_4_14"/>
          <p:cNvSpPr/>
          <p:nvPr/>
        </p:nvSpPr>
        <p:spPr>
          <a:xfrm>
            <a:off x="6705600" y="1816608"/>
            <a:ext cx="341376" cy="341376"/>
          </a:xfrm>
          <a:prstGeom prst="ellipse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dc363f3242_4_14"/>
          <p:cNvSpPr/>
          <p:nvPr/>
        </p:nvSpPr>
        <p:spPr>
          <a:xfrm>
            <a:off x="6705600" y="1816608"/>
            <a:ext cx="3413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c363f3242_4_14"/>
          <p:cNvSpPr/>
          <p:nvPr/>
        </p:nvSpPr>
        <p:spPr>
          <a:xfrm>
            <a:off x="7217664" y="1767840"/>
            <a:ext cx="48768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Saddle path</a:t>
            </a:r>
            <a:r>
              <a:rPr b="0" i="0" lang="en-US" sz="1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→ equilibrium determinacy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dc363f3242_4_14"/>
          <p:cNvSpPr/>
          <p:nvPr/>
        </p:nvSpPr>
        <p:spPr>
          <a:xfrm>
            <a:off x="6705600" y="2426208"/>
            <a:ext cx="341376" cy="341376"/>
          </a:xfrm>
          <a:prstGeom prst="ellipse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dc363f3242_4_14"/>
          <p:cNvSpPr/>
          <p:nvPr/>
        </p:nvSpPr>
        <p:spPr>
          <a:xfrm>
            <a:off x="6705600" y="2426208"/>
            <a:ext cx="3413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dc363f3242_4_14"/>
          <p:cNvSpPr/>
          <p:nvPr/>
        </p:nvSpPr>
        <p:spPr>
          <a:xfrm>
            <a:off x="7217664" y="2377440"/>
            <a:ext cx="48768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Transition dynamics</a:t>
            </a:r>
            <a:r>
              <a:rPr b="0" i="0" lang="en-US" sz="1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→ short- and medium-run effects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dc363f3242_4_14"/>
          <p:cNvSpPr/>
          <p:nvPr/>
        </p:nvSpPr>
        <p:spPr>
          <a:xfrm>
            <a:off x="6705600" y="3035808"/>
            <a:ext cx="341376" cy="341376"/>
          </a:xfrm>
          <a:prstGeom prst="ellipse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c363f3242_4_14"/>
          <p:cNvSpPr/>
          <p:nvPr/>
        </p:nvSpPr>
        <p:spPr>
          <a:xfrm>
            <a:off x="6705600" y="3035808"/>
            <a:ext cx="341376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dc363f3242_4_14"/>
          <p:cNvSpPr/>
          <p:nvPr/>
        </p:nvSpPr>
        <p:spPr>
          <a:xfrm>
            <a:off x="7217664" y="2987040"/>
            <a:ext cx="48768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Steady state</a:t>
            </a:r>
            <a:r>
              <a:rPr b="0" i="0" lang="en-US" sz="1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→ long-run comparative statics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g3dc363f3242_4_14"/>
          <p:cNvCxnSpPr/>
          <p:nvPr/>
        </p:nvCxnSpPr>
        <p:spPr>
          <a:xfrm>
            <a:off x="6705600" y="3779520"/>
            <a:ext cx="512064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g3dc363f3242_4_14"/>
          <p:cNvSpPr/>
          <p:nvPr/>
        </p:nvSpPr>
        <p:spPr>
          <a:xfrm>
            <a:off x="6705600" y="3901440"/>
            <a:ext cx="512064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Open question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dc363f3242_4_14"/>
          <p:cNvSpPr/>
          <p:nvPr/>
        </p:nvSpPr>
        <p:spPr>
          <a:xfrm>
            <a:off x="6705600" y="4389120"/>
            <a:ext cx="5120640" cy="103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Existing work treats G as exogenous. </a:t>
            </a:r>
            <a:endParaRPr b="0" i="0" sz="17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does utility-yielding G, chosen optimally by the planner, interact with the intertemporal margin?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dc363f3242_4_14"/>
          <p:cNvSpPr/>
          <p:nvPr/>
        </p:nvSpPr>
        <p:spPr>
          <a:xfrm>
            <a:off x="6705600" y="5547360"/>
            <a:ext cx="5120640" cy="792480"/>
          </a:xfrm>
          <a:prstGeom prst="rect">
            <a:avLst/>
          </a:prstGeom>
          <a:solidFill>
            <a:srgbClr val="FAFAF7"/>
          </a:solidFill>
          <a:ln cap="flat" cmpd="sng" w="1905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dc363f3242_4_14"/>
          <p:cNvSpPr/>
          <p:nvPr/>
        </p:nvSpPr>
        <p:spPr>
          <a:xfrm>
            <a:off x="6827520" y="5583936"/>
            <a:ext cx="4876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We establish an </a:t>
            </a:r>
            <a:r>
              <a:rPr b="1" i="1" lang="en-US" sz="1700" u="none" cap="none" strike="noStrike">
                <a:solidFill>
                  <a:srgbClr val="B8860B"/>
                </a:solidFill>
                <a:latin typeface="Cambria"/>
                <a:ea typeface="Cambria"/>
                <a:cs typeface="Cambria"/>
                <a:sym typeface="Cambria"/>
              </a:rPr>
              <a:t>intertemporal neutrality result</a:t>
            </a:r>
            <a:r>
              <a:rPr b="0" i="1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for utility-yielding 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dc363f3242_4_14"/>
          <p:cNvSpPr/>
          <p:nvPr/>
        </p:nvSpPr>
        <p:spPr>
          <a:xfrm>
            <a:off x="365760" y="6339840"/>
            <a:ext cx="1146048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Section 2 (Literature Review): how prior work has incorporated government into RCK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c363f3242_4_1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dc363f3242_4_1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 RCK with government models assume exogenous G(t) and ignore impact of public goods on utility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“Government purchases are assumed not to affect utility from private consumption; this can occur if the government devotes the goods to some activity that does not affect utility at all, or if </a:t>
            </a:r>
            <a:r>
              <a:rPr i="1" lang="en-US"/>
              <a:t>utility equals the sum of utility from private consumption and utility from government-provided goods</a:t>
            </a:r>
            <a:r>
              <a:rPr lang="en-US"/>
              <a:t>.”</a:t>
            </a:r>
            <a:endParaRPr/>
          </a:p>
          <a:p>
            <a:pPr indent="-3429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Romer (2012)</a:t>
            </a:r>
            <a:endParaRPr/>
          </a:p>
        </p:txBody>
      </p:sp>
      <p:sp>
        <p:nvSpPr>
          <p:cNvPr id="276" name="Google Shape;276;g3dc363f3242_4_112"/>
          <p:cNvSpPr/>
          <p:nvPr/>
        </p:nvSpPr>
        <p:spPr>
          <a:xfrm>
            <a:off x="365760" y="365760"/>
            <a:ext cx="146304" cy="14630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dc363f3242_4_11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c363f3242_4_112"/>
          <p:cNvSpPr txBox="1"/>
          <p:nvPr/>
        </p:nvSpPr>
        <p:spPr>
          <a:xfrm>
            <a:off x="457200" y="649224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2: Literature Review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c363f3242_4_120"/>
          <p:cNvSpPr txBox="1"/>
          <p:nvPr>
            <p:ph type="title"/>
          </p:nvPr>
        </p:nvSpPr>
        <p:spPr>
          <a:xfrm>
            <a:off x="502025" y="4054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 sz="33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Modeling Technique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dc363f3242_4_120"/>
          <p:cNvSpPr txBox="1"/>
          <p:nvPr>
            <p:ph idx="1" type="body"/>
          </p:nvPr>
        </p:nvSpPr>
        <p:spPr>
          <a:xfrm>
            <a:off x="502025" y="1812200"/>
            <a:ext cx="10891500" cy="4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Extension: Endogenous Government Spending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Planner chooses ct​ and Gt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Utility: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Key Result: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ϕ↑ ⇒ G↑, c↓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Resource allocation between private and public goods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/>
          </a:p>
        </p:txBody>
      </p:sp>
      <p:pic>
        <p:nvPicPr>
          <p:cNvPr id="285" name="Google Shape;285;g3dc363f3242_4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400" y="4320950"/>
            <a:ext cx="2294750" cy="55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dc363f3242_4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2300" y="2487675"/>
            <a:ext cx="2410950" cy="7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dc363f3242_4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5575" y="3499325"/>
            <a:ext cx="5024399" cy="68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dc363f3242_4_120"/>
          <p:cNvSpPr/>
          <p:nvPr/>
        </p:nvSpPr>
        <p:spPr>
          <a:xfrm>
            <a:off x="365760" y="365760"/>
            <a:ext cx="146304" cy="14630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dc363f3242_4_12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dc363f3242_4_120"/>
          <p:cNvSpPr txBox="1"/>
          <p:nvPr/>
        </p:nvSpPr>
        <p:spPr>
          <a:xfrm>
            <a:off x="457200" y="649224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3: Modeling Technique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c363f3242_4_1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 sz="33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dc363f3242_4_1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Methodology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Calibrate baseline parameters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Solve steady state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Phase diagram analysis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Simulate transition dynamics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Welfare analysis for different ϕ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What we find: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Higher φ → higher optimal G*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Welfare is hump-shaped in government spending G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Optimal government size exists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</p:txBody>
      </p:sp>
      <p:sp>
        <p:nvSpPr>
          <p:cNvPr id="297" name="Google Shape;297;g3dc363f3242_4_140"/>
          <p:cNvSpPr/>
          <p:nvPr/>
        </p:nvSpPr>
        <p:spPr>
          <a:xfrm>
            <a:off x="365760" y="365760"/>
            <a:ext cx="146304" cy="14630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dc363f3242_4_14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dc363f3242_4_140"/>
          <p:cNvSpPr txBox="1"/>
          <p:nvPr/>
        </p:nvSpPr>
        <p:spPr>
          <a:xfrm>
            <a:off x="457200" y="649224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5: Methodology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c363f3242_4_131"/>
          <p:cNvSpPr txBox="1"/>
          <p:nvPr>
            <p:ph type="title"/>
          </p:nvPr>
        </p:nvSpPr>
        <p:spPr>
          <a:xfrm>
            <a:off x="838200" y="365125"/>
            <a:ext cx="9707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3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Economic Implications: Effect of Government Spending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dc363f3242_4_131"/>
          <p:cNvSpPr txBox="1"/>
          <p:nvPr>
            <p:ph idx="1" type="body"/>
          </p:nvPr>
        </p:nvSpPr>
        <p:spPr>
          <a:xfrm>
            <a:off x="6696950" y="1825625"/>
            <a:ext cx="4656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Phase Diagram Insights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Resource constraint shifts down (Δk = 0) 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Intertemporal condition unchanged (Δc = 0)  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Government spending crowds out private consumption but does not affect capital accumulation </a:t>
            </a:r>
            <a:endParaRPr sz="1800"/>
          </a:p>
        </p:txBody>
      </p:sp>
      <p:pic>
        <p:nvPicPr>
          <p:cNvPr id="306" name="Google Shape;306;g3dc363f3242_4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500" y="1932975"/>
            <a:ext cx="6035377" cy="37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dc363f3242_4_131"/>
          <p:cNvSpPr/>
          <p:nvPr/>
        </p:nvSpPr>
        <p:spPr>
          <a:xfrm>
            <a:off x="365760" y="365760"/>
            <a:ext cx="146304" cy="14630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c363f3242_4_13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dc363f3242_4_131"/>
          <p:cNvSpPr txBox="1"/>
          <p:nvPr/>
        </p:nvSpPr>
        <p:spPr>
          <a:xfrm>
            <a:off x="457200" y="649224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4: Economic Implications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c363f3242_4_1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Optimal Government Spending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g3dc363f3242_4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225" y="1962750"/>
            <a:ext cx="7989775" cy="436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dc363f3242_4_148"/>
          <p:cNvSpPr txBox="1"/>
          <p:nvPr/>
        </p:nvSpPr>
        <p:spPr>
          <a:xfrm>
            <a:off x="8597437" y="1938788"/>
            <a:ext cx="3243300" cy="4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Optimal split between private consumption and government spending on public goods depends on the preference weight assigned to public goods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 φ means higher G* (and thus lower c*)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takeaway: for the social planner, some non-zero government spending is optimal for all non-zero φ.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dc363f3242_4_148"/>
          <p:cNvSpPr/>
          <p:nvPr/>
        </p:nvSpPr>
        <p:spPr>
          <a:xfrm>
            <a:off x="365760" y="365760"/>
            <a:ext cx="146304" cy="14630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dc363f3242_4_14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dc363f3242_4_148"/>
          <p:cNvSpPr txBox="1"/>
          <p:nvPr/>
        </p:nvSpPr>
        <p:spPr>
          <a:xfrm>
            <a:off x="457200" y="649224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6: Optimal Government Size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c363f3242_4_1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3dc363f3242_4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275" y="1463421"/>
            <a:ext cx="9676124" cy="41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dc363f3242_4_157"/>
          <p:cNvSpPr txBox="1"/>
          <p:nvPr/>
        </p:nvSpPr>
        <p:spPr>
          <a:xfrm>
            <a:off x="838200" y="5651225"/>
            <a:ext cx="105156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still observe the same saddle-path dynamics for both consumption and Government spending - there is a single value of c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G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 given k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leads to convergence to steady state c*, G*, and k*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Regardless of the value of φ, c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G</a:t>
            </a:r>
            <a:r>
              <a:rPr b="1" baseline="-2500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converge to c* and G* at the same rate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dc363f3242_4_157"/>
          <p:cNvSpPr/>
          <p:nvPr/>
        </p:nvSpPr>
        <p:spPr>
          <a:xfrm>
            <a:off x="365760" y="365760"/>
            <a:ext cx="146304" cy="14630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dc363f3242_4_15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dc363f3242_4_157"/>
          <p:cNvSpPr txBox="1"/>
          <p:nvPr/>
        </p:nvSpPr>
        <p:spPr>
          <a:xfrm>
            <a:off x="457200" y="6492240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7: Results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c363f3242_4_241"/>
          <p:cNvSpPr txBox="1"/>
          <p:nvPr>
            <p:ph type="title"/>
          </p:nvPr>
        </p:nvSpPr>
        <p:spPr>
          <a:xfrm>
            <a:off x="838200" y="365125"/>
            <a:ext cx="10515600" cy="415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35" name="Google Shape;335;g3dc363f3242_4_241"/>
          <p:cNvSpPr txBox="1"/>
          <p:nvPr>
            <p:ph idx="1" type="body"/>
          </p:nvPr>
        </p:nvSpPr>
        <p:spPr>
          <a:xfrm>
            <a:off x="838200" y="906011"/>
            <a:ext cx="10515600" cy="5270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36" name="Google Shape;336;g3dc363f3242_4_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845"/>
            <a:ext cx="121920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c363f3242_4_2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42" name="Google Shape;342;g3dc363f3242_4_2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43" name="Google Shape;343;g3dc363f3242_4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3776"/>
            <a:ext cx="12192000" cy="6670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2026-05-01T18:06:03Z</dcterms:created>
  <dc:creator>Mike Santos</dc:creator>
</cp:coreProperties>
</file>